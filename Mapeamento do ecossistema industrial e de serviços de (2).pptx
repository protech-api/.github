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0"/>
  </p:notesMasterIdLst>
  <p:sldIdLst>
    <p:sldId id="264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7FC1B3-A136-4B68-BDD5-AB7E47E106F2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BFE95-DEE8-4C8C-806F-EDC67F9AA50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318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42E90-B652-CDE9-6826-EE4746794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33C2E-FC21-1CDE-E7B9-081B9BC1C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7ACB15-8EE4-01BA-5079-64CE5D689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4B9FB-E22F-E717-CBC6-BCC01C823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BFE95-DEE8-4C8C-806F-EDC67F9AA50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0553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C7876-DDBA-11B4-C720-E4EAE6846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726C0-B564-78EA-2E14-1B2FF8734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3EC5C-F985-5F51-DC10-035EA1800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4B6FA-C6FD-E982-D7B5-5487D712C4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BFE95-DEE8-4C8C-806F-EDC67F9AA50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3465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BFE95-DEE8-4C8C-806F-EDC67F9AA50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059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C947E-0D16-3388-78C4-B344C2B07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C0C795-5FB6-8A79-EA7B-5E423D0125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FDD92-30D7-1492-F235-8E2D268A28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D16CB-CDA7-0464-AFFF-EAB802A19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BFE95-DEE8-4C8C-806F-EDC67F9AA50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522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12543-EBB5-DC54-0A91-506CB7E8C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1973C0-EB2F-CF37-71EE-4F8770F34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D4D860-AD50-FE16-5993-2E36AD05F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75677-6FA0-1A86-8687-5C2158C69B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BFE95-DEE8-4C8C-806F-EDC67F9AA50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1294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38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948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22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61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66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18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80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7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05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855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8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8118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jpeg"/><Relationship Id="rId5" Type="http://schemas.openxmlformats.org/officeDocument/2006/relationships/image" Target="../media/image3.png"/><Relationship Id="rId10" Type="http://schemas.openxmlformats.org/officeDocument/2006/relationships/image" Target="../media/image11.jpe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42EDD9-95A0-F2E9-1AF3-1BECCF7DD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9F27EB8-F52E-5241-1E24-DD0D77F34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B8EB7A0-78DE-CC92-443D-9109D65A9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5826DD5-D285-968E-321F-28B013269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DDBB3FE-28CC-9AE0-B117-5F1F023AF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8FAA97-0AA2-D143-04D7-10E115469E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750"/>
          <a:stretch>
            <a:fillRect/>
          </a:stretch>
        </p:blipFill>
        <p:spPr>
          <a:xfrm>
            <a:off x="0" y="0"/>
            <a:ext cx="12191979" cy="68579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E952DF6-07D9-8022-22C3-7FE070309DB6}"/>
              </a:ext>
            </a:extLst>
          </p:cNvPr>
          <p:cNvSpPr txBox="1"/>
          <p:nvPr/>
        </p:nvSpPr>
        <p:spPr>
          <a:xfrm>
            <a:off x="7401650" y="27348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pt-BR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DA9068-61CF-AB86-E76E-636D9C8D5B87}"/>
              </a:ext>
            </a:extLst>
          </p:cNvPr>
          <p:cNvSpPr txBox="1"/>
          <p:nvPr/>
        </p:nvSpPr>
        <p:spPr>
          <a:xfrm>
            <a:off x="8279441" y="60277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58E61D-C5E3-72B8-0BF6-6D272D3749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5" y="-786270"/>
            <a:ext cx="4575351" cy="7586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4888D3-39BC-8D10-4F1E-995EF04E4A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27" y="-1536823"/>
            <a:ext cx="4101132" cy="679980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AD137A7-A97D-0799-942B-BFD9A0B24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8953" y="438711"/>
            <a:ext cx="6334063" cy="958655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pt-BR" sz="2400" dirty="0">
                <a:latin typeface="Bahnschrift SemiBold SemiConden" panose="020B0502040204020203" pitchFamily="34" charset="0"/>
                <a:cs typeface="Aharoni" panose="02010803020104030203" pitchFamily="2" charset="-79"/>
              </a:rPr>
              <a:t>Mapeamento do ecossistema industrial e de serviços de São josé dos campos e região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31E93E-7ACF-D39E-C467-5558CAE60C4A}"/>
              </a:ext>
            </a:extLst>
          </p:cNvPr>
          <p:cNvCxnSpPr>
            <a:cxnSpLocks/>
          </p:cNvCxnSpPr>
          <p:nvPr/>
        </p:nvCxnSpPr>
        <p:spPr>
          <a:xfrm>
            <a:off x="4316558" y="1349980"/>
            <a:ext cx="7075342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204284C-62FD-CE18-EC3B-F2F6CA08D09B}"/>
              </a:ext>
            </a:extLst>
          </p:cNvPr>
          <p:cNvSpPr txBox="1"/>
          <p:nvPr/>
        </p:nvSpPr>
        <p:spPr>
          <a:xfrm>
            <a:off x="6255929" y="2273888"/>
            <a:ext cx="2788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Relatório oficial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4CBABA-5F4B-8B0A-2F2E-BF093643D573}"/>
              </a:ext>
            </a:extLst>
          </p:cNvPr>
          <p:cNvCxnSpPr/>
          <p:nvPr/>
        </p:nvCxnSpPr>
        <p:spPr>
          <a:xfrm>
            <a:off x="6255929" y="2767762"/>
            <a:ext cx="26609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C1CC54A-3D3B-B11F-9A21-2A96B1C61B1F}"/>
              </a:ext>
            </a:extLst>
          </p:cNvPr>
          <p:cNvSpPr txBox="1"/>
          <p:nvPr/>
        </p:nvSpPr>
        <p:spPr>
          <a:xfrm>
            <a:off x="5585002" y="2903971"/>
            <a:ext cx="382348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ctr">
              <a:buFontTx/>
              <a:buChar char="-"/>
            </a:pPr>
            <a:r>
              <a:rPr lang="pt-BR" dirty="0">
                <a:latin typeface="Bahnschrift SemiBold SemiConden" panose="020B0502040204020203" pitchFamily="34" charset="0"/>
              </a:rPr>
              <a:t>Nosso objetivo </a:t>
            </a:r>
          </a:p>
          <a:p>
            <a:pPr algn="ctr"/>
            <a:r>
              <a:rPr lang="pt-BR" dirty="0">
                <a:latin typeface="Bahnschrift SemiBold SemiConden" panose="020B0502040204020203" pitchFamily="34" charset="0"/>
              </a:rPr>
              <a:t>- Integrantes</a:t>
            </a:r>
          </a:p>
          <a:p>
            <a:pPr algn="ctr"/>
            <a:r>
              <a:rPr lang="pt-BR" dirty="0">
                <a:latin typeface="Bahnschrift SemiBold SemiConden" panose="020B0502040204020203" pitchFamily="34" charset="0"/>
              </a:rPr>
              <a:t>-  Nossa engenharia</a:t>
            </a:r>
          </a:p>
          <a:p>
            <a:pPr algn="ctr"/>
            <a:r>
              <a:rPr lang="pt-BR" dirty="0">
                <a:latin typeface="Bahnschrift SemiBold SemiConden" panose="020B0502040204020203" pitchFamily="34" charset="0"/>
              </a:rPr>
              <a:t>- Backlogs, Sprints e resultados parciais</a:t>
            </a:r>
          </a:p>
          <a:p>
            <a:pPr algn="ctr"/>
            <a:r>
              <a:rPr lang="pt-BR" dirty="0">
                <a:latin typeface="Bahnschrift SemiBold SemiConden" panose="020B0502040204020203" pitchFamily="34" charset="0"/>
              </a:rPr>
              <a:t> – Conclusão de projeto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E69BF0C-2DC6-8BA6-CAFF-19237C84FE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70" y="5690578"/>
            <a:ext cx="1919459" cy="9213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9CC2434-ECAF-CEA0-AAEA-19D882E8D478}"/>
              </a:ext>
            </a:extLst>
          </p:cNvPr>
          <p:cNvSpPr txBox="1"/>
          <p:nvPr/>
        </p:nvSpPr>
        <p:spPr>
          <a:xfrm>
            <a:off x="4135404" y="6018204"/>
            <a:ext cx="2893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protechapi123@gmail.com</a:t>
            </a:r>
          </a:p>
        </p:txBody>
      </p:sp>
      <p:pic>
        <p:nvPicPr>
          <p:cNvPr id="18" name="Graphic 17" descr="Envelope outline">
            <a:extLst>
              <a:ext uri="{FF2B5EF4-FFF2-40B4-BE49-F238E27FC236}">
                <a16:creationId xmlns:a16="http://schemas.microsoft.com/office/drawing/2014/main" id="{1D74EAEA-4ADA-19B9-3AD5-207B8D99F1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61316" y="5997416"/>
            <a:ext cx="429941" cy="42994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5D63F4B-995E-DF84-DBFF-048F5BD4B920}"/>
              </a:ext>
            </a:extLst>
          </p:cNvPr>
          <p:cNvSpPr txBox="1"/>
          <p:nvPr/>
        </p:nvSpPr>
        <p:spPr>
          <a:xfrm>
            <a:off x="8279441" y="6027720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(12) 98209-1010</a:t>
            </a:r>
          </a:p>
        </p:txBody>
      </p:sp>
      <p:pic>
        <p:nvPicPr>
          <p:cNvPr id="20" name="Graphic 19" descr="Speaker phone outline">
            <a:extLst>
              <a:ext uri="{FF2B5EF4-FFF2-40B4-BE49-F238E27FC236}">
                <a16:creationId xmlns:a16="http://schemas.microsoft.com/office/drawing/2014/main" id="{1D7D7042-83B4-27E9-5FBE-C8AFA846E2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63338" y="5980375"/>
            <a:ext cx="477341" cy="47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232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AB1CF4-BCDD-FC6C-72FF-B9E4DD232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F7372C-05E4-DB29-D326-54D3966AD9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750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8A10EA-84E4-65D2-4ADF-B3330B0BFA80}"/>
              </a:ext>
            </a:extLst>
          </p:cNvPr>
          <p:cNvSpPr txBox="1"/>
          <p:nvPr/>
        </p:nvSpPr>
        <p:spPr>
          <a:xfrm>
            <a:off x="3181336" y="2544136"/>
            <a:ext cx="7056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Bahnschrift SemiBold SemiConden" panose="020B0502040204020203" pitchFamily="34" charset="0"/>
              </a:rPr>
              <a:t>O dashboard ProTech, será criado no Power BI e terá características como: objetividade, solidez, praticidade e principalmente </a:t>
            </a:r>
            <a:r>
              <a:rPr kumimoji="0" lang="pt-BR" altLang="pt-BR" i="0" u="sng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Bahnschrift SemiBold SemiConden" panose="020B0502040204020203" pitchFamily="34" charset="0"/>
              </a:rPr>
              <a:t>funcionalidade</a:t>
            </a:r>
            <a:endParaRPr lang="pt-BR" u="sng" dirty="0">
              <a:solidFill>
                <a:srgbClr val="C00000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416523-E360-868E-7CB7-2465726036FB}"/>
              </a:ext>
            </a:extLst>
          </p:cNvPr>
          <p:cNvSpPr txBox="1"/>
          <p:nvPr/>
        </p:nvSpPr>
        <p:spPr>
          <a:xfrm>
            <a:off x="7401650" y="27348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pt-BR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FB5871-0B51-7858-069C-037F21FCB670}"/>
              </a:ext>
            </a:extLst>
          </p:cNvPr>
          <p:cNvSpPr txBox="1"/>
          <p:nvPr/>
        </p:nvSpPr>
        <p:spPr>
          <a:xfrm>
            <a:off x="8279441" y="60277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079E59B-EFDB-EC51-32DD-B6163333B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70" y="5690578"/>
            <a:ext cx="1919459" cy="9213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2A4CD8-2BB4-AF56-D6F6-357D593970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544" y="-805244"/>
            <a:ext cx="2802301" cy="46463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0ADD76-787D-BECB-CF14-5399E4B7DC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5" y="-802572"/>
            <a:ext cx="1961442" cy="32521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B48F04-71F0-EDC0-93BF-94D9A9DDE541}"/>
              </a:ext>
            </a:extLst>
          </p:cNvPr>
          <p:cNvSpPr txBox="1"/>
          <p:nvPr/>
        </p:nvSpPr>
        <p:spPr>
          <a:xfrm>
            <a:off x="2595310" y="703222"/>
            <a:ext cx="87965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Bahnschrift SemiBold SemiConden" panose="020B0502040204020203" pitchFamily="34" charset="0"/>
              </a:rPr>
              <a:t>A equipe ProTech – Production Technology –, uma das equipes responsáveis pelo projeto de integração (API) do curso de Engenharia de Produção, foi desenvolvida em março de 2026 com o principal </a:t>
            </a:r>
            <a:r>
              <a:rPr lang="pt-BR" dirty="0">
                <a:solidFill>
                  <a:srgbClr val="C00000"/>
                </a:solidFill>
                <a:latin typeface="Bahnschrift SemiBold SemiConden" panose="020B0502040204020203" pitchFamily="34" charset="0"/>
              </a:rPr>
              <a:t>objetivo</a:t>
            </a:r>
            <a:r>
              <a:rPr lang="pt-BR" dirty="0">
                <a:latin typeface="Bahnschrift SemiBold SemiConden" panose="020B0502040204020203" pitchFamily="34" charset="0"/>
              </a:rPr>
              <a:t> </a:t>
            </a:r>
            <a:r>
              <a:rPr lang="pt-BR" dirty="0">
                <a:solidFill>
                  <a:srgbClr val="C00000"/>
                </a:solidFill>
                <a:latin typeface="Bahnschrift SemiBold SemiConden" panose="020B0502040204020203" pitchFamily="34" charset="0"/>
              </a:rPr>
              <a:t>de, a partir da base de dados RAIS,</a:t>
            </a:r>
            <a:r>
              <a:rPr lang="pt-BR" dirty="0">
                <a:latin typeface="Bahnschrift SemiBold SemiConden" panose="020B0502040204020203" pitchFamily="34" charset="0"/>
              </a:rPr>
              <a:t> </a:t>
            </a:r>
            <a:r>
              <a:rPr lang="pt-BR" dirty="0">
                <a:solidFill>
                  <a:srgbClr val="C00000"/>
                </a:solidFill>
                <a:latin typeface="Bahnschrift SemiBold SemiConden" panose="020B0502040204020203" pitchFamily="34" charset="0"/>
              </a:rPr>
              <a:t>criar um dashboard interativo que apresente dados sobre o ecossistema industrial e de serviços de São José dos Campos e região</a:t>
            </a:r>
            <a:r>
              <a:rPr lang="pt-BR" dirty="0">
                <a:latin typeface="Bahnschrift SemiBold SemiConden" panose="020B0502040204020203" pitchFamily="34" charset="0"/>
              </a:rPr>
              <a:t>, tendo como cliente, a Secretaria de Desenvolvimento da cidade de São José dos Campos.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B06A0D-DCEE-529E-B4BA-CCF160EF400B}"/>
              </a:ext>
            </a:extLst>
          </p:cNvPr>
          <p:cNvCxnSpPr>
            <a:cxnSpLocks/>
          </p:cNvCxnSpPr>
          <p:nvPr/>
        </p:nvCxnSpPr>
        <p:spPr>
          <a:xfrm flipH="1">
            <a:off x="4886397" y="3213743"/>
            <a:ext cx="3227832" cy="973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D62133E-216D-127A-8905-4FD0A7616DC6}"/>
              </a:ext>
            </a:extLst>
          </p:cNvPr>
          <p:cNvSpPr txBox="1"/>
          <p:nvPr/>
        </p:nvSpPr>
        <p:spPr>
          <a:xfrm>
            <a:off x="3337526" y="4210500"/>
            <a:ext cx="6743684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u="sng" dirty="0">
                <a:solidFill>
                  <a:srgbClr val="C00000"/>
                </a:solidFill>
                <a:latin typeface="Bahnschrift SemiBold SemiConden" panose="020B0502040204020203" pitchFamily="34" charset="0"/>
              </a:rPr>
              <a:t>Funcionalidades</a:t>
            </a:r>
            <a:r>
              <a:rPr lang="pt-BR" dirty="0">
                <a:solidFill>
                  <a:srgbClr val="C00000"/>
                </a:solidFill>
                <a:latin typeface="Bahnschrift SemiBold SemiConden" panose="020B0502040204020203" pitchFamily="34" charset="0"/>
              </a:rPr>
              <a:t>: </a:t>
            </a:r>
            <a:r>
              <a:rPr lang="pt-BR" sz="1400" dirty="0">
                <a:latin typeface="Bahnschrift SemiBold SemiConden" panose="020B0502040204020203" pitchFamily="34" charset="0"/>
              </a:rPr>
              <a:t>Visualização dos principais setores industriais e de serviços da região,</a:t>
            </a:r>
          </a:p>
          <a:p>
            <a:pPr lvl="0"/>
            <a:r>
              <a:rPr lang="pt-BR" sz="1400" dirty="0">
                <a:latin typeface="Bahnschrift SemiBold SemiConden" panose="020B0502040204020203" pitchFamily="34" charset="0"/>
              </a:rPr>
              <a:t>identificação e classificação das atividades econômicas predominantes,</a:t>
            </a:r>
          </a:p>
          <a:p>
            <a:pPr lvl="0"/>
            <a:r>
              <a:rPr lang="pt-BR" sz="1400" dirty="0">
                <a:latin typeface="Bahnschrift SemiBold SemiConden" panose="020B0502040204020203" pitchFamily="34" charset="0"/>
              </a:rPr>
              <a:t>representação geográfica da distribuição das empresas ou setores produtivos,</a:t>
            </a:r>
          </a:p>
          <a:p>
            <a:pPr lvl="0"/>
            <a:r>
              <a:rPr lang="pt-BR" sz="1400" dirty="0">
                <a:latin typeface="Bahnschrift SemiBold SemiConden" panose="020B0502040204020203" pitchFamily="34" charset="0"/>
              </a:rPr>
              <a:t>apresentação de indicadores econômicos e produtivos relevantes,</a:t>
            </a:r>
          </a:p>
          <a:p>
            <a:pPr lvl="0"/>
            <a:r>
              <a:rPr lang="pt-BR" sz="1400" dirty="0">
                <a:latin typeface="Bahnschrift SemiBold SemiConden" panose="020B0502040204020203" pitchFamily="34" charset="0"/>
              </a:rPr>
              <a:t>visualização gráfica da participação de diferentes setores na economia regional,</a:t>
            </a:r>
          </a:p>
          <a:p>
            <a:pPr lvl="0"/>
            <a:r>
              <a:rPr lang="pt-BR" sz="1400" dirty="0">
                <a:latin typeface="Bahnschrift SemiBold SemiConden" panose="020B0502040204020203" pitchFamily="34" charset="0"/>
              </a:rPr>
              <a:t>comparações entre diferentes segmentos industriais ou de serviços,</a:t>
            </a:r>
          </a:p>
          <a:p>
            <a:pPr lvl="0"/>
            <a:r>
              <a:rPr lang="pt-BR" sz="1400" dirty="0">
                <a:latin typeface="Bahnschrift SemiBold SemiConden" panose="020B0502040204020203" pitchFamily="34" charset="0"/>
              </a:rPr>
              <a:t>criação de gráficos e painéis analíticos que permitam interpretar os dados coletados,</a:t>
            </a:r>
          </a:p>
          <a:p>
            <a:pPr lvl="0"/>
            <a:r>
              <a:rPr lang="pt-BR" sz="1400" dirty="0">
                <a:latin typeface="Bahnschrift SemiBold SemiConden" panose="020B0502040204020203" pitchFamily="34" charset="0"/>
              </a:rPr>
              <a:t>interface clara e intuitiva para facilitar a compreensão das informações.</a:t>
            </a:r>
          </a:p>
          <a:p>
            <a:r>
              <a:rPr lang="pt-BR" dirty="0">
                <a:solidFill>
                  <a:srgbClr val="C00000"/>
                </a:solidFill>
                <a:latin typeface="Bahnschrift SemiBold SemiConden" panose="020B0502040204020203" pitchFamily="34" charset="0"/>
              </a:rPr>
              <a:t>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128C0C-99FE-2534-10CB-F6C0F8679DBB}"/>
              </a:ext>
            </a:extLst>
          </p:cNvPr>
          <p:cNvSpPr txBox="1"/>
          <p:nvPr/>
        </p:nvSpPr>
        <p:spPr>
          <a:xfrm>
            <a:off x="5859240" y="153955"/>
            <a:ext cx="1542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rgbClr val="FFC000"/>
                </a:solidFill>
                <a:latin typeface="Bahnschrift SemiBold SemiConden" panose="020B0502040204020203" pitchFamily="34" charset="0"/>
              </a:rPr>
              <a:t>Nosso objetivo </a:t>
            </a:r>
          </a:p>
          <a:p>
            <a:endParaRPr lang="pt-BR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DFF862-0634-2765-33E2-3EE6A0DC807A}"/>
              </a:ext>
            </a:extLst>
          </p:cNvPr>
          <p:cNvSpPr txBox="1"/>
          <p:nvPr/>
        </p:nvSpPr>
        <p:spPr>
          <a:xfrm>
            <a:off x="11709321" y="6151248"/>
            <a:ext cx="4716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68415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44BE13-8D0A-BF43-0ECC-CB05B6A03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44E56BB-1AAA-8CCE-01E0-6405150D5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66CA9EB-A3FB-7C7E-7D93-1872502B8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A8F68CBF-B152-1B4F-EAF6-680BFD06D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7D813E-8EA5-77B8-2589-4A6E46CA2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9870AD-1084-1F9D-BD29-B4CBCB9D89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750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2829B15-926A-F4B4-CBB7-11FBBF006AE4}"/>
              </a:ext>
            </a:extLst>
          </p:cNvPr>
          <p:cNvSpPr txBox="1"/>
          <p:nvPr/>
        </p:nvSpPr>
        <p:spPr>
          <a:xfrm>
            <a:off x="7401650" y="27348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pt-BR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F78C87-E3E7-84F5-CE11-B5DCDB26AF4E}"/>
              </a:ext>
            </a:extLst>
          </p:cNvPr>
          <p:cNvSpPr txBox="1"/>
          <p:nvPr/>
        </p:nvSpPr>
        <p:spPr>
          <a:xfrm>
            <a:off x="8279441" y="60277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83C8B63-227D-DB88-758E-4D0FB4F90B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70" y="5690578"/>
            <a:ext cx="1919459" cy="9213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1BC244-22A2-693F-D3E4-14F70F5E3A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544" y="-805244"/>
            <a:ext cx="2802301" cy="46463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0A5EA0-419D-97C6-5A3F-A17DE0114D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5" y="-802572"/>
            <a:ext cx="1961442" cy="32521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8D25D5-36EB-2E77-6DB3-6A85B3861FBE}"/>
              </a:ext>
            </a:extLst>
          </p:cNvPr>
          <p:cNvSpPr txBox="1"/>
          <p:nvPr/>
        </p:nvSpPr>
        <p:spPr>
          <a:xfrm>
            <a:off x="5869915" y="246888"/>
            <a:ext cx="1212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Bahnschrift SemiBold SemiConden" panose="020B0502040204020203" pitchFamily="34" charset="0"/>
              </a:rPr>
              <a:t>Integrantes</a:t>
            </a:r>
          </a:p>
          <a:p>
            <a:r>
              <a:rPr lang="pt-BR" dirty="0">
                <a:solidFill>
                  <a:srgbClr val="FFC000"/>
                </a:solidFill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D16EC5-E192-0C0B-01E9-07C91206FC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9159" y="823494"/>
            <a:ext cx="1285251" cy="21063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87C7BE9-9CA6-E612-EBC2-CC907DCF25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6" t="24116" r="11908" b="13247"/>
          <a:stretch>
            <a:fillRect/>
          </a:stretch>
        </p:blipFill>
        <p:spPr>
          <a:xfrm>
            <a:off x="5799622" y="866322"/>
            <a:ext cx="1351967" cy="20066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2B751E1-491B-9431-40AA-5B503250F5EF}"/>
              </a:ext>
            </a:extLst>
          </p:cNvPr>
          <p:cNvSpPr txBox="1"/>
          <p:nvPr/>
        </p:nvSpPr>
        <p:spPr>
          <a:xfrm>
            <a:off x="3658169" y="2872061"/>
            <a:ext cx="143101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+mj-lt"/>
              </a:rPr>
              <a:t>Ian Fully</a:t>
            </a:r>
          </a:p>
          <a:p>
            <a:r>
              <a:rPr lang="pt-BR" sz="1600" dirty="0">
                <a:latin typeface="+mj-lt"/>
              </a:rPr>
              <a:t>Dev group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ADC6B8-703F-4567-738A-09B7A3313E31}"/>
              </a:ext>
            </a:extLst>
          </p:cNvPr>
          <p:cNvSpPr txBox="1"/>
          <p:nvPr/>
        </p:nvSpPr>
        <p:spPr>
          <a:xfrm>
            <a:off x="5809748" y="2845480"/>
            <a:ext cx="142699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+mj-lt"/>
              </a:rPr>
              <a:t>Guilherme P.</a:t>
            </a:r>
          </a:p>
          <a:p>
            <a:r>
              <a:rPr lang="pt-BR" sz="1600" dirty="0">
                <a:latin typeface="+mj-lt"/>
              </a:rPr>
              <a:t>Product Owner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53E1A50-6F26-3C74-666D-FAA68ECAB9C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22" t="9284" r="3197"/>
          <a:stretch>
            <a:fillRect/>
          </a:stretch>
        </p:blipFill>
        <p:spPr>
          <a:xfrm>
            <a:off x="8246039" y="893219"/>
            <a:ext cx="1459485" cy="20507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2AD0B03-3D54-DF28-5943-4005961005AD}"/>
              </a:ext>
            </a:extLst>
          </p:cNvPr>
          <p:cNvSpPr txBox="1"/>
          <p:nvPr/>
        </p:nvSpPr>
        <p:spPr>
          <a:xfrm>
            <a:off x="8299955" y="2910733"/>
            <a:ext cx="135165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latin typeface="+mj-lt"/>
              </a:rPr>
              <a:t>Rafael Costa</a:t>
            </a:r>
          </a:p>
          <a:p>
            <a:pPr algn="ctr"/>
            <a:r>
              <a:rPr lang="pt-BR" sz="1600" dirty="0">
                <a:latin typeface="+mj-lt"/>
              </a:rPr>
              <a:t>Dev group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ED64192-12B1-7269-D5CC-74EA684F4CE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4858" r="12307"/>
          <a:stretch>
            <a:fillRect/>
          </a:stretch>
        </p:blipFill>
        <p:spPr>
          <a:xfrm>
            <a:off x="3375559" y="3844687"/>
            <a:ext cx="1512449" cy="22059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D357433-3025-023D-D8FD-A9494B27CA28}"/>
              </a:ext>
            </a:extLst>
          </p:cNvPr>
          <p:cNvSpPr txBox="1"/>
          <p:nvPr/>
        </p:nvSpPr>
        <p:spPr>
          <a:xfrm>
            <a:off x="3411073" y="6050587"/>
            <a:ext cx="144142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latin typeface="+mj-lt"/>
              </a:rPr>
              <a:t>Rodrigo Nagy</a:t>
            </a:r>
          </a:p>
          <a:p>
            <a:pPr algn="ctr"/>
            <a:r>
              <a:rPr lang="pt-BR" sz="1600" dirty="0">
                <a:latin typeface="+mj-lt"/>
              </a:rPr>
              <a:t>Scrum Master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5E22A0-84B4-2B77-C272-B86ABD729271}"/>
              </a:ext>
            </a:extLst>
          </p:cNvPr>
          <p:cNvSpPr txBox="1"/>
          <p:nvPr/>
        </p:nvSpPr>
        <p:spPr>
          <a:xfrm>
            <a:off x="11741900" y="6205379"/>
            <a:ext cx="4459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0AC03A-D4A6-3468-5F0C-EBE6F886A87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7" r="13076"/>
          <a:stretch>
            <a:fillRect/>
          </a:stretch>
        </p:blipFill>
        <p:spPr>
          <a:xfrm>
            <a:off x="5799622" y="3743986"/>
            <a:ext cx="1580926" cy="23066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6E1BEB-3207-3355-AD9C-DDF97F3F7084}"/>
              </a:ext>
            </a:extLst>
          </p:cNvPr>
          <p:cNvSpPr txBox="1"/>
          <p:nvPr/>
        </p:nvSpPr>
        <p:spPr>
          <a:xfrm>
            <a:off x="5823712" y="6050587"/>
            <a:ext cx="155683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+mj-lt"/>
              </a:rPr>
              <a:t>Luís Guilherme</a:t>
            </a:r>
          </a:p>
          <a:p>
            <a:pPr algn="ctr"/>
            <a:r>
              <a:rPr lang="pt-BR" sz="1600" dirty="0">
                <a:latin typeface="+mj-lt"/>
              </a:rPr>
              <a:t>Dev group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564604-50B9-927B-6E4B-04206644880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2" t="11324" r="15561"/>
          <a:stretch>
            <a:fillRect/>
          </a:stretch>
        </p:blipFill>
        <p:spPr>
          <a:xfrm>
            <a:off x="8255358" y="3658826"/>
            <a:ext cx="1556836" cy="246506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FD194BC-3208-E11A-5BB3-7B66F0EE996D}"/>
              </a:ext>
            </a:extLst>
          </p:cNvPr>
          <p:cNvSpPr txBox="1"/>
          <p:nvPr/>
        </p:nvSpPr>
        <p:spPr>
          <a:xfrm>
            <a:off x="8275297" y="6089276"/>
            <a:ext cx="154401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+mj-lt"/>
              </a:rPr>
              <a:t>Diogo Santana</a:t>
            </a:r>
          </a:p>
          <a:p>
            <a:pPr algn="ctr"/>
            <a:r>
              <a:rPr lang="pt-BR" sz="1600" dirty="0">
                <a:latin typeface="+mj-lt"/>
              </a:rPr>
              <a:t>Dev group</a:t>
            </a:r>
          </a:p>
        </p:txBody>
      </p:sp>
    </p:spTree>
    <p:extLst>
      <p:ext uri="{BB962C8B-B14F-4D97-AF65-F5344CB8AC3E}">
        <p14:creationId xmlns:p14="http://schemas.microsoft.com/office/powerpoint/2010/main" val="3963390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2F6D5D-4246-234D-BE69-E7FBE37A9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A66BAEA-A17D-520C-6E05-7B0594D69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2BF8A2D-417F-2B96-5810-3D7207DD9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0FC68E58-5F8C-4073-DB0B-0CF0AB3A8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4BF0446-E3EF-2D3B-ADA5-466685262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55B082-98B7-9C7C-973A-458233A879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750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28B677-934C-A975-A631-E691B932CAA6}"/>
              </a:ext>
            </a:extLst>
          </p:cNvPr>
          <p:cNvSpPr txBox="1"/>
          <p:nvPr/>
        </p:nvSpPr>
        <p:spPr>
          <a:xfrm>
            <a:off x="7401650" y="27348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pt-BR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72BA3E-99AE-435B-C098-B5BFAD28D41D}"/>
              </a:ext>
            </a:extLst>
          </p:cNvPr>
          <p:cNvSpPr txBox="1"/>
          <p:nvPr/>
        </p:nvSpPr>
        <p:spPr>
          <a:xfrm>
            <a:off x="8279441" y="60277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CA0A343-45BA-0F79-EB9C-FDEB361FD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70" y="5690578"/>
            <a:ext cx="1919459" cy="9213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E782D1-DF40-4522-480A-E7F2B5FE4B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544" y="-805244"/>
            <a:ext cx="2802301" cy="46463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9C37F7-0EA7-B680-F60D-0B135852CD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5" y="-802572"/>
            <a:ext cx="1961442" cy="32521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5BC030-EECC-EA79-5BCF-B7FFADBA0E91}"/>
              </a:ext>
            </a:extLst>
          </p:cNvPr>
          <p:cNvSpPr txBox="1"/>
          <p:nvPr/>
        </p:nvSpPr>
        <p:spPr>
          <a:xfrm>
            <a:off x="3553610" y="907780"/>
            <a:ext cx="7481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+mj-lt"/>
              </a:rPr>
              <a:t>As </a:t>
            </a:r>
            <a:r>
              <a:rPr lang="pt-BR" b="1" dirty="0">
                <a:latin typeface="+mj-lt"/>
              </a:rPr>
              <a:t>principais ferramentas e base de dados </a:t>
            </a:r>
            <a:r>
              <a:rPr lang="pt-BR" dirty="0">
                <a:latin typeface="+mj-lt"/>
              </a:rPr>
              <a:t>utilizadas em nosso projeto, foram: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CAAC9A-DFB5-062C-A396-388BA90A5998}"/>
              </a:ext>
            </a:extLst>
          </p:cNvPr>
          <p:cNvSpPr txBox="1"/>
          <p:nvPr/>
        </p:nvSpPr>
        <p:spPr>
          <a:xfrm>
            <a:off x="5903544" y="297038"/>
            <a:ext cx="185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C000"/>
                </a:solidFill>
                <a:latin typeface="Bahnschrift SemiBold SemiConden" panose="020B0502040204020203" pitchFamily="34" charset="0"/>
              </a:rPr>
              <a:t>Nossa engenharia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D62AA6-A53E-E041-5D55-87892FAA3474}"/>
              </a:ext>
            </a:extLst>
          </p:cNvPr>
          <p:cNvSpPr txBox="1"/>
          <p:nvPr/>
        </p:nvSpPr>
        <p:spPr>
          <a:xfrm>
            <a:off x="11742752" y="6212386"/>
            <a:ext cx="4459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B431C6-D980-55EA-2FFF-3F7B77D93AAA}"/>
              </a:ext>
            </a:extLst>
          </p:cNvPr>
          <p:cNvSpPr txBox="1"/>
          <p:nvPr/>
        </p:nvSpPr>
        <p:spPr>
          <a:xfrm>
            <a:off x="2544314" y="2025176"/>
            <a:ext cx="443690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+mj-lt"/>
              </a:rPr>
              <a:t>Ferramentas:</a:t>
            </a:r>
          </a:p>
          <a:p>
            <a:endParaRPr lang="pt-BR" b="1" dirty="0">
              <a:latin typeface="+mj-lt"/>
            </a:endParaRPr>
          </a:p>
          <a:p>
            <a:r>
              <a:rPr lang="pt-BR" sz="2000" b="1" dirty="0">
                <a:latin typeface="+mj-lt"/>
              </a:rPr>
              <a:t>Relatório</a:t>
            </a:r>
            <a:r>
              <a:rPr lang="pt-BR" b="1" dirty="0">
                <a:latin typeface="+mj-lt"/>
              </a:rPr>
              <a:t>: </a:t>
            </a:r>
            <a:r>
              <a:rPr lang="pt-BR" sz="1600" dirty="0">
                <a:solidFill>
                  <a:srgbClr val="FF0000"/>
                </a:solidFill>
                <a:latin typeface="+mj-lt"/>
              </a:rPr>
              <a:t>Word, Google </a:t>
            </a:r>
            <a:r>
              <a:rPr lang="pt-BR" sz="1600" dirty="0" err="1">
                <a:solidFill>
                  <a:srgbClr val="FF0000"/>
                </a:solidFill>
                <a:latin typeface="+mj-lt"/>
              </a:rPr>
              <a:t>Docs</a:t>
            </a:r>
            <a:endParaRPr lang="pt-BR" dirty="0">
              <a:solidFill>
                <a:srgbClr val="FF0000"/>
              </a:solidFill>
              <a:latin typeface="+mj-lt"/>
            </a:endParaRPr>
          </a:p>
          <a:p>
            <a:endParaRPr lang="pt-BR" b="1" dirty="0">
              <a:latin typeface="+mj-lt"/>
            </a:endParaRPr>
          </a:p>
          <a:p>
            <a:r>
              <a:rPr lang="pt-BR" sz="2000" b="1" dirty="0">
                <a:latin typeface="+mj-lt"/>
              </a:rPr>
              <a:t>Backlog e Sprint</a:t>
            </a:r>
            <a:r>
              <a:rPr lang="pt-BR" b="1" dirty="0">
                <a:latin typeface="+mj-lt"/>
              </a:rPr>
              <a:t>: </a:t>
            </a:r>
            <a:r>
              <a:rPr lang="pt-BR" sz="1600" dirty="0">
                <a:solidFill>
                  <a:srgbClr val="FF0000"/>
                </a:solidFill>
                <a:latin typeface="+mj-lt"/>
              </a:rPr>
              <a:t>Trello, Github</a:t>
            </a:r>
            <a:endParaRPr lang="pt-BR" dirty="0">
              <a:solidFill>
                <a:srgbClr val="FF0000"/>
              </a:solidFill>
              <a:latin typeface="+mj-lt"/>
            </a:endParaRPr>
          </a:p>
          <a:p>
            <a:endParaRPr lang="pt-BR" b="1" dirty="0">
              <a:latin typeface="+mj-lt"/>
            </a:endParaRPr>
          </a:p>
          <a:p>
            <a:r>
              <a:rPr lang="pt-BR" sz="2000" b="1" dirty="0">
                <a:latin typeface="+mj-lt"/>
              </a:rPr>
              <a:t>Apresentação</a:t>
            </a:r>
            <a:r>
              <a:rPr lang="pt-BR" b="1" dirty="0">
                <a:latin typeface="+mj-lt"/>
              </a:rPr>
              <a:t>: </a:t>
            </a:r>
            <a:r>
              <a:rPr lang="pt-BR" sz="1600" dirty="0">
                <a:solidFill>
                  <a:srgbClr val="FF0000"/>
                </a:solidFill>
                <a:latin typeface="+mj-lt"/>
              </a:rPr>
              <a:t>Power BI e Power Point</a:t>
            </a:r>
            <a:endParaRPr lang="pt-BR" dirty="0">
              <a:solidFill>
                <a:srgbClr val="FF0000"/>
              </a:solidFill>
              <a:latin typeface="+mj-lt"/>
            </a:endParaRPr>
          </a:p>
          <a:p>
            <a:endParaRPr lang="pt-BR" dirty="0">
              <a:solidFill>
                <a:srgbClr val="FF0000"/>
              </a:solidFill>
              <a:latin typeface="+mj-lt"/>
            </a:endParaRPr>
          </a:p>
          <a:p>
            <a:r>
              <a:rPr lang="pt-BR" sz="2000" b="1" dirty="0">
                <a:latin typeface="+mj-lt"/>
              </a:rPr>
              <a:t>Extração de dados</a:t>
            </a:r>
            <a:r>
              <a:rPr lang="pt-BR" b="1" dirty="0">
                <a:latin typeface="+mj-lt"/>
              </a:rPr>
              <a:t>: </a:t>
            </a:r>
            <a:r>
              <a:rPr lang="pt-BR" sz="1600" dirty="0">
                <a:solidFill>
                  <a:srgbClr val="FF0000"/>
                </a:solidFill>
                <a:latin typeface="+mj-lt"/>
              </a:rPr>
              <a:t>Excel e Pyhton </a:t>
            </a:r>
            <a:endParaRPr lang="pt-BR" dirty="0">
              <a:solidFill>
                <a:srgbClr val="FF0000"/>
              </a:solidFill>
              <a:latin typeface="+mj-lt"/>
            </a:endParaRPr>
          </a:p>
          <a:p>
            <a:endParaRPr lang="pt-BR" b="1" dirty="0">
              <a:latin typeface="+mj-lt"/>
            </a:endParaRPr>
          </a:p>
          <a:p>
            <a:r>
              <a:rPr lang="pt-BR" b="1" dirty="0">
                <a:latin typeface="+mj-lt"/>
              </a:rPr>
              <a:t>                            </a:t>
            </a:r>
          </a:p>
          <a:p>
            <a:pPr algn="ctr"/>
            <a:endParaRPr lang="pt-BR" b="1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899CF6-8E2D-E6A2-4B20-ED3EC580498D}"/>
              </a:ext>
            </a:extLst>
          </p:cNvPr>
          <p:cNvSpPr txBox="1"/>
          <p:nvPr/>
        </p:nvSpPr>
        <p:spPr>
          <a:xfrm>
            <a:off x="7128777" y="2025176"/>
            <a:ext cx="443690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latin typeface="+mj-lt"/>
              </a:rPr>
              <a:t>Base de Dados:</a:t>
            </a:r>
          </a:p>
          <a:p>
            <a:endParaRPr lang="pt-BR" dirty="0"/>
          </a:p>
          <a:p>
            <a:endParaRPr lang="pt-BR" dirty="0"/>
          </a:p>
          <a:p>
            <a:r>
              <a:rPr lang="pt-BR" sz="2000" b="1" dirty="0">
                <a:latin typeface="+mj-lt"/>
              </a:rPr>
              <a:t>Dados informativos</a:t>
            </a:r>
            <a:r>
              <a:rPr lang="pt-BR" dirty="0"/>
              <a:t>: </a:t>
            </a:r>
            <a:r>
              <a:rPr lang="pt-BR" sz="1600" dirty="0">
                <a:solidFill>
                  <a:srgbClr val="C00000"/>
                </a:solidFill>
                <a:latin typeface="+mj-lt"/>
              </a:rPr>
              <a:t>RAIS e CNAE</a:t>
            </a:r>
            <a:endParaRPr lang="pt-BR" dirty="0">
              <a:solidFill>
                <a:srgbClr val="C00000"/>
              </a:solidFill>
              <a:latin typeface="+mj-lt"/>
            </a:endParaRPr>
          </a:p>
          <a:p>
            <a:endParaRPr lang="pt-BR" dirty="0"/>
          </a:p>
          <a:p>
            <a:endParaRPr lang="pt-BR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04F2B84-B727-37D8-0790-29B8608A0CC7}"/>
              </a:ext>
            </a:extLst>
          </p:cNvPr>
          <p:cNvCxnSpPr/>
          <p:nvPr/>
        </p:nvCxnSpPr>
        <p:spPr>
          <a:xfrm>
            <a:off x="6638544" y="1810512"/>
            <a:ext cx="0" cy="4801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9627072-F746-E0CB-4437-8AA1F921E252}"/>
              </a:ext>
            </a:extLst>
          </p:cNvPr>
          <p:cNvCxnSpPr/>
          <p:nvPr/>
        </p:nvCxnSpPr>
        <p:spPr>
          <a:xfrm>
            <a:off x="3730752" y="2449560"/>
            <a:ext cx="19476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FE2ED0-92A2-21C1-B774-DE1219D88A15}"/>
              </a:ext>
            </a:extLst>
          </p:cNvPr>
          <p:cNvCxnSpPr/>
          <p:nvPr/>
        </p:nvCxnSpPr>
        <p:spPr>
          <a:xfrm>
            <a:off x="8021349" y="2449560"/>
            <a:ext cx="26517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145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CF7429-AB63-9263-E700-397C19506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7054267-E755-E3C9-1C6E-779E0899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5108CBE-9543-E5DB-3E14-A3440BFDF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80DFE9B-DCF8-BE14-9993-F703693EC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17CE6DA-30D9-2150-AFA8-0A8C85626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9331DF-DA96-1E35-70D0-08F750305E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750"/>
          <a:stretch>
            <a:fillRect/>
          </a:stretch>
        </p:blipFill>
        <p:spPr>
          <a:xfrm>
            <a:off x="21" y="11"/>
            <a:ext cx="12191979" cy="68579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7D6D443-4332-B5E8-C5F5-83F24BE7FC65}"/>
              </a:ext>
            </a:extLst>
          </p:cNvPr>
          <p:cNvSpPr txBox="1"/>
          <p:nvPr/>
        </p:nvSpPr>
        <p:spPr>
          <a:xfrm>
            <a:off x="7401650" y="27348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pt-BR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F446AD-C858-547D-F450-4628C111BB37}"/>
              </a:ext>
            </a:extLst>
          </p:cNvPr>
          <p:cNvSpPr txBox="1"/>
          <p:nvPr/>
        </p:nvSpPr>
        <p:spPr>
          <a:xfrm>
            <a:off x="8279441" y="60277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C6A8E86-2811-C210-6C3D-27FBF9C17F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70" y="5690578"/>
            <a:ext cx="1919459" cy="9213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6BE82A-062B-CA6C-91C0-A614905B40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544" y="-805244"/>
            <a:ext cx="2802301" cy="46463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561A11-4B50-9569-27F8-D526108F90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5" y="-802572"/>
            <a:ext cx="1961442" cy="32521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5860FE-B9E3-A88D-DEE4-6357203BDC54}"/>
              </a:ext>
            </a:extLst>
          </p:cNvPr>
          <p:cNvSpPr txBox="1"/>
          <p:nvPr/>
        </p:nvSpPr>
        <p:spPr>
          <a:xfrm>
            <a:off x="11742752" y="6212386"/>
            <a:ext cx="4459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5640E4-6FC4-C1D1-F51F-556D3762D285}"/>
              </a:ext>
            </a:extLst>
          </p:cNvPr>
          <p:cNvSpPr txBox="1"/>
          <p:nvPr/>
        </p:nvSpPr>
        <p:spPr>
          <a:xfrm>
            <a:off x="4373301" y="177163"/>
            <a:ext cx="3672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Bahnschrift SemiBold SemiConden" panose="020B0502040204020203" pitchFamily="34" charset="0"/>
              </a:rPr>
              <a:t>Backlogs, Sprints e resultados parciais</a:t>
            </a:r>
          </a:p>
          <a:p>
            <a:endParaRPr lang="pt-B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B3ECD0-7210-BA73-D726-D28D730916EA}"/>
              </a:ext>
            </a:extLst>
          </p:cNvPr>
          <p:cNvSpPr txBox="1"/>
          <p:nvPr/>
        </p:nvSpPr>
        <p:spPr>
          <a:xfrm>
            <a:off x="3925245" y="773803"/>
            <a:ext cx="6211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+mj-lt"/>
              </a:rPr>
              <a:t>As nossas </a:t>
            </a:r>
            <a:r>
              <a:rPr lang="pt-BR" b="1" dirty="0">
                <a:solidFill>
                  <a:srgbClr val="C00000"/>
                </a:solidFill>
                <a:latin typeface="+mj-lt"/>
              </a:rPr>
              <a:t>tarefas do Backlog</a:t>
            </a:r>
            <a:r>
              <a:rPr lang="pt-BR" dirty="0">
                <a:latin typeface="+mj-lt"/>
              </a:rPr>
              <a:t>, foram divididas da seguinte forma: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689107-D1A8-877B-CA88-D074269198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481" y="1319708"/>
            <a:ext cx="3888345" cy="47274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BCDB29-2454-335F-C645-6DBE0AD58D49}"/>
              </a:ext>
            </a:extLst>
          </p:cNvPr>
          <p:cNvSpPr txBox="1"/>
          <p:nvPr/>
        </p:nvSpPr>
        <p:spPr>
          <a:xfrm>
            <a:off x="6616922" y="1711841"/>
            <a:ext cx="5125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Bahnschrift SemiBold SemiConden" panose="020B0502040204020203" pitchFamily="34" charset="0"/>
              </a:rPr>
              <a:t>Luís Guilherme extrai os dados utilizando a ferramenta Pyhton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745EB6-4FD3-F593-8763-D568AF0D9C9F}"/>
              </a:ext>
            </a:extLst>
          </p:cNvPr>
          <p:cNvCxnSpPr>
            <a:cxnSpLocks/>
          </p:cNvCxnSpPr>
          <p:nvPr/>
        </p:nvCxnSpPr>
        <p:spPr>
          <a:xfrm>
            <a:off x="5532120" y="1865729"/>
            <a:ext cx="10848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8E991E2-6D42-E9BB-CC7C-59DE27732291}"/>
              </a:ext>
            </a:extLst>
          </p:cNvPr>
          <p:cNvSpPr txBox="1"/>
          <p:nvPr/>
        </p:nvSpPr>
        <p:spPr>
          <a:xfrm>
            <a:off x="6506160" y="2861822"/>
            <a:ext cx="5507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Bahnschrift SemiBold SemiConden" panose="020B0502040204020203" pitchFamily="34" charset="0"/>
              </a:rPr>
              <a:t>Guilherme e Leandro ficam responsáveis por organizar os dados requisitados pelo cliente 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7C61A9-8A9E-4986-2672-85CA0F9C5791}"/>
              </a:ext>
            </a:extLst>
          </p:cNvPr>
          <p:cNvCxnSpPr/>
          <p:nvPr/>
        </p:nvCxnSpPr>
        <p:spPr>
          <a:xfrm>
            <a:off x="5907024" y="3104157"/>
            <a:ext cx="539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E8B34FA-37BB-717E-1E0C-2A8B7E7C5F13}"/>
              </a:ext>
            </a:extLst>
          </p:cNvPr>
          <p:cNvSpPr txBox="1"/>
          <p:nvPr/>
        </p:nvSpPr>
        <p:spPr>
          <a:xfrm>
            <a:off x="6561440" y="4398603"/>
            <a:ext cx="5181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Bahnschrift SemiBold SemiConden" panose="020B0502040204020203" pitchFamily="34" charset="0"/>
              </a:rPr>
              <a:t>Ian, junto ao Rodrigo e Rafael, ficarão responsáveis por inserir os dados no Power BI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374E277-849A-FF09-2DB7-4A3B838D1874}"/>
              </a:ext>
            </a:extLst>
          </p:cNvPr>
          <p:cNvCxnSpPr/>
          <p:nvPr/>
        </p:nvCxnSpPr>
        <p:spPr>
          <a:xfrm>
            <a:off x="4187952" y="4562856"/>
            <a:ext cx="2318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B562436-7FF9-02C5-2ED1-2879DDE93736}"/>
              </a:ext>
            </a:extLst>
          </p:cNvPr>
          <p:cNvSpPr txBox="1"/>
          <p:nvPr/>
        </p:nvSpPr>
        <p:spPr>
          <a:xfrm>
            <a:off x="6600896" y="5138883"/>
            <a:ext cx="5591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Bahnschrift SemiBold SemiConden" panose="020B0502040204020203" pitchFamily="34" charset="0"/>
              </a:rPr>
              <a:t>Diogo fica responsável pela documentação do projeto e também pelo GitHub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0C04964-381C-8D8C-F071-BA5AD86EE732}"/>
              </a:ext>
            </a:extLst>
          </p:cNvPr>
          <p:cNvCxnSpPr/>
          <p:nvPr/>
        </p:nvCxnSpPr>
        <p:spPr>
          <a:xfrm>
            <a:off x="5532120" y="5288437"/>
            <a:ext cx="10293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40069F8-B460-8718-D3EC-CB40503203EB}"/>
              </a:ext>
            </a:extLst>
          </p:cNvPr>
          <p:cNvSpPr txBox="1"/>
          <p:nvPr/>
        </p:nvSpPr>
        <p:spPr>
          <a:xfrm>
            <a:off x="4123215" y="6360536"/>
            <a:ext cx="5816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Bahnschrift SemiBold SemiConden" panose="020B0502040204020203" pitchFamily="34" charset="0"/>
              </a:rPr>
              <a:t>Obs: Rafael e Rodrigo estão responsáveis por editar o Power BI</a:t>
            </a:r>
          </a:p>
        </p:txBody>
      </p:sp>
    </p:spTree>
    <p:extLst>
      <p:ext uri="{BB962C8B-B14F-4D97-AF65-F5344CB8AC3E}">
        <p14:creationId xmlns:p14="http://schemas.microsoft.com/office/powerpoint/2010/main" val="1070885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F78EC-A073-E385-5811-842432213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8035C35-4176-2262-0AFA-5FEE979C3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D1F15FE-B495-A8AC-307E-A871FB142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5E1AFF33-4442-15FB-2CF9-C36128A9C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3841175-1274-CA3B-A910-43FA49DB5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916957-B2CD-42E0-E708-780AB48485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750"/>
          <a:stretch>
            <a:fillRect/>
          </a:stretch>
        </p:blipFill>
        <p:spPr>
          <a:xfrm>
            <a:off x="14885" y="0"/>
            <a:ext cx="12191979" cy="68579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0431719-88F0-C13D-CBE9-A6B7C5A96A9B}"/>
              </a:ext>
            </a:extLst>
          </p:cNvPr>
          <p:cNvSpPr txBox="1"/>
          <p:nvPr/>
        </p:nvSpPr>
        <p:spPr>
          <a:xfrm>
            <a:off x="7401650" y="27348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pt-BR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CD5791-F94D-8B73-0AD4-F7A0F81FC2F2}"/>
              </a:ext>
            </a:extLst>
          </p:cNvPr>
          <p:cNvSpPr txBox="1"/>
          <p:nvPr/>
        </p:nvSpPr>
        <p:spPr>
          <a:xfrm>
            <a:off x="8279441" y="60277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F8E042E-8D99-051E-412E-C82B948BC5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70" y="5690578"/>
            <a:ext cx="1919459" cy="9213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3D7068-7D07-9ABC-4448-EFEC08B570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544" y="-805244"/>
            <a:ext cx="2802301" cy="46463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99196F-4EF4-F485-CC19-CE328D2B3B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5" y="-802572"/>
            <a:ext cx="1961442" cy="32521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E61F48-6DDF-556C-08C9-BA9CD635E05F}"/>
              </a:ext>
            </a:extLst>
          </p:cNvPr>
          <p:cNvSpPr txBox="1"/>
          <p:nvPr/>
        </p:nvSpPr>
        <p:spPr>
          <a:xfrm>
            <a:off x="11742752" y="6212386"/>
            <a:ext cx="4459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39213F-0FE2-4774-7CB7-B90A87AD8109}"/>
              </a:ext>
            </a:extLst>
          </p:cNvPr>
          <p:cNvSpPr txBox="1"/>
          <p:nvPr/>
        </p:nvSpPr>
        <p:spPr>
          <a:xfrm>
            <a:off x="4373301" y="177163"/>
            <a:ext cx="3672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Bahnschrift SemiBold SemiConden" panose="020B0502040204020203" pitchFamily="34" charset="0"/>
              </a:rPr>
              <a:t>Backlogs, Sprints e resultados parciais</a:t>
            </a:r>
          </a:p>
          <a:p>
            <a:endParaRPr lang="pt-B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74B218-DFD3-9B07-0545-648AB56DC0A2}"/>
              </a:ext>
            </a:extLst>
          </p:cNvPr>
          <p:cNvSpPr txBox="1"/>
          <p:nvPr/>
        </p:nvSpPr>
        <p:spPr>
          <a:xfrm>
            <a:off x="5225956" y="758339"/>
            <a:ext cx="45361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Bahnschrift SemiBold SemiConden" panose="020B0502040204020203" pitchFamily="34" charset="0"/>
              </a:rPr>
              <a:t>O nosso projeto será dividido em </a:t>
            </a:r>
            <a:r>
              <a:rPr lang="pt-BR" dirty="0">
                <a:solidFill>
                  <a:srgbClr val="C00000"/>
                </a:solidFill>
                <a:latin typeface="Bahnschrift SemiBold SemiConden" panose="020B0502040204020203" pitchFamily="34" charset="0"/>
              </a:rPr>
              <a:t>3 Sprints</a:t>
            </a:r>
            <a:r>
              <a:rPr lang="pt-BR" dirty="0">
                <a:latin typeface="Bahnschrift SemiBold SemiConden" panose="020B0502040204020203" pitchFamily="34" charset="0"/>
              </a:rPr>
              <a:t>, que já serão respondidos  no Dashboard: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A01EA5-BB5A-638D-6849-24553BCE14B5}"/>
              </a:ext>
            </a:extLst>
          </p:cNvPr>
          <p:cNvSpPr txBox="1"/>
          <p:nvPr/>
        </p:nvSpPr>
        <p:spPr>
          <a:xfrm>
            <a:off x="1998309" y="1517907"/>
            <a:ext cx="9932388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+mj-lt"/>
              </a:rPr>
              <a:t>1° Sprint </a:t>
            </a:r>
            <a:r>
              <a:rPr lang="pt-BR" b="1" dirty="0">
                <a:latin typeface="+mj-lt"/>
              </a:rPr>
              <a:t>– entrega no dia 27/04</a:t>
            </a:r>
          </a:p>
          <a:p>
            <a:endParaRPr lang="pt-BR" dirty="0"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pt-BR" sz="1600" dirty="0">
                <a:latin typeface="+mj-lt"/>
              </a:rPr>
              <a:t>Quais são os principais setores industriais e de serviços presentes na região de São José dos Campos?</a:t>
            </a:r>
          </a:p>
          <a:p>
            <a:pPr marL="285750" indent="-285750">
              <a:buFontTx/>
              <a:buChar char="-"/>
            </a:pPr>
            <a:r>
              <a:rPr lang="pt-BR" sz="1600" dirty="0">
                <a:latin typeface="+mj-lt"/>
              </a:rPr>
              <a:t>Quais tipos de atividades produtivas predominam (manufatura, tecnologia, logística, serviços especializados etc.)?</a:t>
            </a:r>
          </a:p>
          <a:p>
            <a:endParaRPr lang="pt-BR" sz="1600" dirty="0">
              <a:latin typeface="+mj-lt"/>
            </a:endParaRPr>
          </a:p>
          <a:p>
            <a:pPr marL="285750" indent="-285750">
              <a:buFontTx/>
              <a:buChar char="-"/>
            </a:pPr>
            <a:endParaRPr lang="pt-BR" sz="1600" dirty="0">
              <a:latin typeface="+mj-lt"/>
            </a:endParaRPr>
          </a:p>
          <a:p>
            <a:r>
              <a:rPr lang="pt-BR" b="1" dirty="0">
                <a:solidFill>
                  <a:srgbClr val="C00000"/>
                </a:solidFill>
                <a:latin typeface="+mj-lt"/>
              </a:rPr>
              <a:t>2° Sprint </a:t>
            </a:r>
            <a:r>
              <a:rPr lang="pt-BR" b="1" dirty="0">
                <a:latin typeface="+mj-lt"/>
              </a:rPr>
              <a:t>– entrega no dia 18/05</a:t>
            </a:r>
          </a:p>
          <a:p>
            <a:endParaRPr lang="pt-BR" b="1" dirty="0">
              <a:latin typeface="+mj-lt"/>
            </a:endParaRPr>
          </a:p>
          <a:p>
            <a:pPr marL="285750" indent="-285750">
              <a:buFontTx/>
              <a:buChar char="-"/>
            </a:pPr>
            <a:r>
              <a:rPr lang="pt-BR" sz="1600" dirty="0">
                <a:latin typeface="+mj-lt"/>
              </a:rPr>
              <a:t>Como esses setores estão distribuídos geograficamente no município e na região?</a:t>
            </a:r>
          </a:p>
          <a:p>
            <a:pPr marL="285750" indent="-285750">
              <a:buFontTx/>
              <a:buChar char="-"/>
            </a:pPr>
            <a:r>
              <a:rPr lang="pt-BR" sz="1600" dirty="0">
                <a:latin typeface="+mj-lt"/>
              </a:rPr>
              <a:t>Qual a relação entre os setores industriais presentes e o desenvolvimento tecnológico regional?</a:t>
            </a:r>
          </a:p>
          <a:p>
            <a:pPr marL="285750" indent="-285750">
              <a:buFontTx/>
              <a:buChar char="-"/>
            </a:pPr>
            <a:r>
              <a:rPr lang="pt-BR" sz="1600" dirty="0">
                <a:latin typeface="+mj-lt"/>
              </a:rPr>
              <a:t>Como o ecossistema produtivo regional se conecta com inovação, tecnologia e desenvolvimento econômico?</a:t>
            </a:r>
          </a:p>
          <a:p>
            <a:pPr marL="285750" indent="-285750">
              <a:buFontTx/>
              <a:buChar char="-"/>
            </a:pPr>
            <a:r>
              <a:rPr lang="pt-BR" sz="1600" dirty="0">
                <a:latin typeface="+mj-lt"/>
              </a:rPr>
              <a:t>Quais são os principais macroprocessos produtivos identificados nas empresas da região?</a:t>
            </a:r>
          </a:p>
          <a:p>
            <a:endParaRPr lang="pt-BR" sz="1600" dirty="0">
              <a:latin typeface="+mj-lt"/>
            </a:endParaRPr>
          </a:p>
          <a:p>
            <a:endParaRPr lang="pt-BR" dirty="0"/>
          </a:p>
          <a:p>
            <a:endParaRPr lang="pt-BR" dirty="0"/>
          </a:p>
          <a:p>
            <a:r>
              <a:rPr lang="pt-BR" b="1" dirty="0">
                <a:solidFill>
                  <a:srgbClr val="C00000"/>
                </a:solidFill>
                <a:latin typeface="+mj-lt"/>
              </a:rPr>
              <a:t>3° Sprint </a:t>
            </a:r>
            <a:r>
              <a:rPr lang="pt-BR" b="1" dirty="0">
                <a:latin typeface="+mj-lt"/>
              </a:rPr>
              <a:t>– entrega no dia 08/06</a:t>
            </a:r>
          </a:p>
          <a:p>
            <a:endParaRPr lang="pt-BR" dirty="0">
              <a:latin typeface="+mj-lt"/>
            </a:endParaRPr>
          </a:p>
          <a:p>
            <a:r>
              <a:rPr lang="pt-BR" sz="1600" dirty="0">
                <a:latin typeface="+mj-lt"/>
              </a:rPr>
              <a:t>- Quais oportunidades de atuação profissional podem ser identificadas para o engenheiro de produção nesse contexto?</a:t>
            </a:r>
          </a:p>
          <a:p>
            <a:endParaRPr lang="pt-BR" dirty="0"/>
          </a:p>
          <a:p>
            <a:endParaRPr lang="pt-BR" sz="1600" dirty="0">
              <a:latin typeface="+mj-lt"/>
            </a:endParaRPr>
          </a:p>
          <a:p>
            <a:pPr marL="285750" indent="-285750">
              <a:buFontTx/>
              <a:buChar char="-"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5349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DB62F1-D95C-C07B-A738-32504E43F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8F689F3-2954-2744-5616-8E1BC93F6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B03C1B2-0E45-5A3E-0064-29245A64D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995F1C61-8701-9736-DE9E-FAA8B5E62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B686C5E-1CD5-680C-C399-1E76450FD2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0E2E43-972E-64FE-601D-77C2906891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750"/>
          <a:stretch>
            <a:fillRect/>
          </a:stretch>
        </p:blipFill>
        <p:spPr>
          <a:xfrm>
            <a:off x="14885" y="0"/>
            <a:ext cx="12191979" cy="68579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971D7EE-1E99-EC51-837E-87CF9E8BFDE0}"/>
              </a:ext>
            </a:extLst>
          </p:cNvPr>
          <p:cNvSpPr txBox="1"/>
          <p:nvPr/>
        </p:nvSpPr>
        <p:spPr>
          <a:xfrm>
            <a:off x="7401650" y="27348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pt-BR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E73B81-0D8E-57EF-A36C-C8FA0BFFF2B9}"/>
              </a:ext>
            </a:extLst>
          </p:cNvPr>
          <p:cNvSpPr txBox="1"/>
          <p:nvPr/>
        </p:nvSpPr>
        <p:spPr>
          <a:xfrm>
            <a:off x="8279441" y="60277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0C95764-3ED0-71CB-6DB8-A8FE87524E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70" y="5690578"/>
            <a:ext cx="1919459" cy="9213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96A351F-EAD0-7A4E-085F-44009F3034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5544" y="-805244"/>
            <a:ext cx="2802301" cy="46463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EF9E39-7B93-F4EF-0019-63862CDAEF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5" y="-802572"/>
            <a:ext cx="1961442" cy="32521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813FDE-1CD2-90F1-6513-1AC7DF000D60}"/>
              </a:ext>
            </a:extLst>
          </p:cNvPr>
          <p:cNvSpPr txBox="1"/>
          <p:nvPr/>
        </p:nvSpPr>
        <p:spPr>
          <a:xfrm>
            <a:off x="11742752" y="6212386"/>
            <a:ext cx="4459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1385E-15C9-59FD-4955-C7FCA0D450DD}"/>
              </a:ext>
            </a:extLst>
          </p:cNvPr>
          <p:cNvSpPr txBox="1"/>
          <p:nvPr/>
        </p:nvSpPr>
        <p:spPr>
          <a:xfrm>
            <a:off x="4373301" y="177163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Bahnschrift SemiBold SemiConden" panose="020B0502040204020203" pitchFamily="34" charset="0"/>
              </a:rPr>
              <a:t>Conclusão do Projeto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BEF132-3DB8-D022-FD37-4A3874B74030}"/>
              </a:ext>
            </a:extLst>
          </p:cNvPr>
          <p:cNvSpPr txBox="1"/>
          <p:nvPr/>
        </p:nvSpPr>
        <p:spPr>
          <a:xfrm>
            <a:off x="2937697" y="702736"/>
            <a:ext cx="67153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Bahnschrift SemiBold SemiConden" panose="020B0502040204020203" pitchFamily="34" charset="0"/>
              </a:rPr>
              <a:t>Ainda não temos o Dashboard por completo, para ser entregue no dia 27,</a:t>
            </a:r>
          </a:p>
          <a:p>
            <a:r>
              <a:rPr lang="pt-BR" dirty="0">
                <a:latin typeface="Bahnschrift SemiBold SemiConden" panose="020B0502040204020203" pitchFamily="34" charset="0"/>
              </a:rPr>
              <a:t>porém as ja demos o seu início e estamos desenvolvendo.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5A3E6C-D848-8697-7B98-AF3610B23D13}"/>
              </a:ext>
            </a:extLst>
          </p:cNvPr>
          <p:cNvSpPr txBox="1"/>
          <p:nvPr/>
        </p:nvSpPr>
        <p:spPr>
          <a:xfrm>
            <a:off x="3524899" y="5668187"/>
            <a:ext cx="6256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Bahnschrift SemiBold SemiConden" panose="020B0502040204020203" pitchFamily="34" charset="0"/>
              </a:rPr>
              <a:t>*Este é o layout que estamos utilizando, já com funções interativas*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E9A70-F28B-45D0-56BA-EA12D87DC6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245" y="1861751"/>
            <a:ext cx="5220600" cy="29336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3943A12-E294-D3EA-C0B9-6A76559BEB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6204" y="1873041"/>
            <a:ext cx="5224114" cy="293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51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1BC2BD-8C15-EDAB-1AF6-31B96B99E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27A6DD2-2D81-CDF5-8923-E33F5E06E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C49F51F-1D58-958A-4E50-628984577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E3197ED-7EE2-9BA5-61E9-288B12C54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B35DC20-D4E6-2CD6-6517-47186DACA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8B2E05-82DB-11EE-EA05-858F25A00E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750"/>
          <a:stretch>
            <a:fillRect/>
          </a:stretch>
        </p:blipFill>
        <p:spPr>
          <a:xfrm>
            <a:off x="14885" y="0"/>
            <a:ext cx="12191979" cy="68579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7CA7C20-CAD8-69BC-B456-2E4862096982}"/>
              </a:ext>
            </a:extLst>
          </p:cNvPr>
          <p:cNvSpPr txBox="1"/>
          <p:nvPr/>
        </p:nvSpPr>
        <p:spPr>
          <a:xfrm>
            <a:off x="7401650" y="27348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pt-BR" dirty="0">
              <a:solidFill>
                <a:schemeClr val="bg1"/>
              </a:solidFill>
              <a:latin typeface="Bahnschrift SemiBold SemiConden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EB5CEC-B259-F74C-86C2-558BCAB6C01D}"/>
              </a:ext>
            </a:extLst>
          </p:cNvPr>
          <p:cNvSpPr txBox="1"/>
          <p:nvPr/>
        </p:nvSpPr>
        <p:spPr>
          <a:xfrm>
            <a:off x="8279441" y="60277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A3FECA3-F24F-2B36-3421-0C7509DB83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580" y="2141560"/>
            <a:ext cx="4010822" cy="19251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615A57-C9FA-1AB4-6681-3CCE024879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186" y="-1106925"/>
            <a:ext cx="6501544" cy="107797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B15B0D-30B0-3739-F8D8-ABFFABDC1C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959" y="-1106925"/>
            <a:ext cx="4727020" cy="78375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0770B6-5F62-E112-2A77-D2FDD9CEF062}"/>
              </a:ext>
            </a:extLst>
          </p:cNvPr>
          <p:cNvSpPr txBox="1"/>
          <p:nvPr/>
        </p:nvSpPr>
        <p:spPr>
          <a:xfrm>
            <a:off x="3794641" y="5715919"/>
            <a:ext cx="4890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~ ProTech, projetando um futuro com ética.~ </a:t>
            </a:r>
          </a:p>
        </p:txBody>
      </p:sp>
    </p:spTree>
    <p:extLst>
      <p:ext uri="{BB962C8B-B14F-4D97-AF65-F5344CB8AC3E}">
        <p14:creationId xmlns:p14="http://schemas.microsoft.com/office/powerpoint/2010/main" val="215365924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611</Words>
  <Application>Microsoft Office PowerPoint</Application>
  <PresentationFormat>Widescreen</PresentationFormat>
  <Paragraphs>97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Bahnschrift SemiBold SemiConden</vt:lpstr>
      <vt:lpstr>Calisto MT</vt:lpstr>
      <vt:lpstr>Univers Condensed</vt:lpstr>
      <vt:lpstr>ChronicleVTI</vt:lpstr>
      <vt:lpstr>Mapeamento do ecossistema industrial e de serviços de São josé dos campos e região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Peratelli</dc:creator>
  <cp:lastModifiedBy>GUILHERME CARDOSO PERATELLI</cp:lastModifiedBy>
  <cp:revision>5</cp:revision>
  <dcterms:created xsi:type="dcterms:W3CDTF">2026-04-15T22:03:16Z</dcterms:created>
  <dcterms:modified xsi:type="dcterms:W3CDTF">2026-04-25T22:54:02Z</dcterms:modified>
</cp:coreProperties>
</file>